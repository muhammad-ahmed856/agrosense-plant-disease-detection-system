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7" d="100"/>
          <a:sy n="107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52B788"/>
                </a:solidFill>
                <a:latin typeface="Calibri"/>
              </a:rPr>
              <a:t>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50292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AgroSense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00200"/>
            <a:ext cx="137160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6276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 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03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52B788"/>
                </a:solidFill>
                <a:latin typeface="Calibri"/>
              </a:rPr>
              <a:t>AI-Powered Crop Disease Detection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97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5B5"/>
                </a:solidFill>
                <a:latin typeface="Calibri"/>
              </a:rPr>
              <a:t>Python  ·  Flask  ·  TensorFlow  ·  SQLite  ·  Open-Meteo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246120"/>
            <a:ext cx="6858000" cy="274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Muhammad 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2296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5BC"/>
                </a:solidFill>
                <a:latin typeface="Calibri"/>
              </a:rPr>
              <a:t>AgroSense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7432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6A4F"/>
                </a:solidFill>
                <a:latin typeface="Calibri"/>
              </a:rPr>
              <a:t>Presentation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96112"/>
            <a:ext cx="6035040" cy="3200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06040" y="1051560"/>
            <a:ext cx="5029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078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051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28930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Why crop disease detection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09928"/>
            <a:ext cx="5029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1737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7099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Project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476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What AgroSense does &amp; who it's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368296"/>
            <a:ext cx="5029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239572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3682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606039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Tech stack and component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026664"/>
            <a:ext cx="5029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30540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0266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AI Detection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644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3-stage image analysis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3685031"/>
            <a:ext cx="5029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06040" y="371246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85031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CNN Model &amp;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922775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2-phase fine-tuning on PlantVillage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343400"/>
            <a:ext cx="5029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06040" y="4370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3434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Weather Advisory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58114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Real-time pesticide spray guidance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051560"/>
            <a:ext cx="502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1078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051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Features &amp; Pages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12893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All farmer &amp; admin capabilities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709928"/>
            <a:ext cx="502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1737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1709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Database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9476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SQLite schema and data 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368296"/>
            <a:ext cx="502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2395727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3682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Supported Crops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60603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38 disease classes across 14 crops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026664"/>
            <a:ext cx="502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30540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026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Results &amp; 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264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Model accuracy and live showcase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685031"/>
            <a:ext cx="502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712463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6850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1A"/>
                </a:solidFill>
                <a:latin typeface="Calibri"/>
              </a:rPr>
              <a:t>Conclusion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392277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Impact,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56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046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  <a:latin typeface="Calibri"/>
              </a:rPr>
              <a:t>Problem
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6A4F"/>
                </a:solidFill>
                <a:latin typeface="Calibri"/>
              </a:rPr>
              <a:t>The Challenge Facing Farmers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41248"/>
            <a:ext cx="6309360" cy="3200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06040" y="1005840"/>
            <a:ext cx="64008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060704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0058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Crop Losses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29844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72"/>
                </a:solidFill>
                <a:latin typeface="Calibri"/>
              </a:rPr>
              <a:t>Up to 40% of global crop yield is lost each year due to undetected or misidentified plant diseases.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984248"/>
            <a:ext cx="64008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2039112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8424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Late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76856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72"/>
                </a:solidFill>
                <a:latin typeface="Calibri"/>
              </a:rPr>
              <a:t>Farmers often rely on visual inspection — slow, inaccurate, and unavailable in rural areas without expert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962656"/>
            <a:ext cx="64008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3017520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96265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Wrong Treatment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255264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72"/>
                </a:solidFill>
                <a:latin typeface="Calibri"/>
              </a:rPr>
              <a:t>Misidentifying a disease leads to wrong pesticide use — wasting money and damaging crops further.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941064"/>
            <a:ext cx="640080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06040" y="3995928"/>
            <a:ext cx="640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🌦️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94106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  <a:latin typeface="Calibri"/>
              </a:rPr>
              <a:t>Weather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23367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72"/>
                </a:solidFill>
                <a:latin typeface="Calibri"/>
              </a:rPr>
              <a:t>Spraying pesticides in poor conditions (wind, rain, heat) drastically reduces effectiveness.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2B788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2B788"/>
                </a:solidFill>
                <a:latin typeface="Calibri"/>
              </a:rPr>
              <a:t>AgroSense is a full-stack AI web application that helps farmers detect crop diseases instantly.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7315200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508760"/>
            <a:ext cx="1965960" cy="310896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508760"/>
            <a:ext cx="196596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52B788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2316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C5B5"/>
                </a:solidFill>
                <a:latin typeface="Calibri"/>
              </a:rPr>
              <a:t>Upload a leaf photo
and get instant disease
diagnosis with confidence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508760"/>
            <a:ext cx="1965960" cy="310896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0" y="1508760"/>
            <a:ext cx="196596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0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52B788"/>
                </a:solidFill>
                <a:latin typeface="Calibri"/>
              </a:rPr>
              <a:t>🌤️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2316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Weather Advisory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5292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C5B5"/>
                </a:solidFill>
                <a:latin typeface="Calibri"/>
              </a:rPr>
              <a:t>Real-time pesticide
spray guidance based
on live weather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508760"/>
            <a:ext cx="1965960" cy="310896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60" y="1508760"/>
            <a:ext cx="196596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52B788"/>
                </a:solidFill>
                <a:latin typeface="Calibr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42316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Scan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85292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C5B5"/>
                </a:solidFill>
                <a:latin typeface="Calibri"/>
              </a:rPr>
              <a:t>All past diagnoses
saved per user with
delete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508760"/>
            <a:ext cx="1965960" cy="310896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0" y="1508760"/>
            <a:ext cx="196596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52B788"/>
                </a:solidFill>
                <a:latin typeface="Calibri"/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423160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 &amp;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85292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C5B5"/>
                </a:solidFill>
                <a:latin typeface="Calibri"/>
              </a:rPr>
              <a:t>Farmer accounts +
Admin panel for full
platform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56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046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  <a:latin typeface="Calibri"/>
              </a:rPr>
              <a:t>System
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6A4F"/>
                </a:solidFill>
                <a:latin typeface="Calibri"/>
              </a:rPr>
              <a:t>Tech Stack &amp;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41248"/>
            <a:ext cx="6309360" cy="3200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51760" y="100584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51760" y="1005840"/>
            <a:ext cx="100584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3898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0972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HTML5 / CSS3 / JavaScript
Jinja2 Templates
Responsive UI with sidebar nav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00584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005840"/>
            <a:ext cx="100584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138988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09728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Python 3.11 + Flask
RESTful JSON API
Session-based authentication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33172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2331720"/>
            <a:ext cx="100584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7157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42316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TensorFlow / Keras
MobileNetV2 Transfer Learning
224×224 input, ImageNet weights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33172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89320" y="2331720"/>
            <a:ext cx="100584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27157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42316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SQLite3 database
users · scans · tips tables
SHA-256 password hashing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65760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51760" y="3657600"/>
            <a:ext cx="100584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51760" y="40416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Weather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374903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Open-Meteo (free, no key)
Real-time temp/humidity/wind
Pesticide spray scoring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657600"/>
            <a:ext cx="310896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89320" y="3657600"/>
            <a:ext cx="100584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40416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3749039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PlantVillage dataset
87K images, 38 classes
~94-97% val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04  —  AI 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2B788"/>
                </a:solidFill>
                <a:latin typeface="Calibri"/>
              </a:rPr>
              <a:t>Three-stage image validation ensures only real plant leaves are diagnosed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2697480" cy="338328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269748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1371600"/>
            <a:ext cx="100584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389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371600"/>
            <a:ext cx="1280160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1389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788"/>
                </a:solidFill>
                <a:latin typeface="Calibri"/>
              </a:rPr>
              <a:t>Color Heuristic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D8"/>
                </a:solidFill>
                <a:latin typeface="Calibri"/>
              </a:rPr>
              <a:t>Scans pixel colors for plant-like tones:
Green · Yellow · Brown · Red
Threshold: 12% of pixels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61872"/>
            <a:ext cx="2697480" cy="338328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1261872"/>
            <a:ext cx="269748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55848" y="1371600"/>
            <a:ext cx="100584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5848" y="1389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1371600"/>
            <a:ext cx="1280160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1389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788"/>
                </a:solidFill>
                <a:latin typeface="Calibri"/>
              </a:rPr>
              <a:t>MobileNetV2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8600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D8"/>
                </a:solidFill>
                <a:latin typeface="Calibri"/>
              </a:rPr>
              <a:t>Pre-trained ImageNet model sums
probability across plant-related classes.
Threshold: 4% (very lenient)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B78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61872"/>
            <a:ext cx="2697480" cy="338328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1261872"/>
            <a:ext cx="269748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36208" y="1371600"/>
            <a:ext cx="100584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6208" y="1389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1371600"/>
            <a:ext cx="1280160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60920" y="1389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788"/>
                </a:solidFill>
                <a:latin typeface="Calibri"/>
              </a:rPr>
              <a:t>Disease CNN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28600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D8"/>
                </a:solidFill>
                <a:latin typeface="Calibri"/>
              </a:rPr>
              <a:t>Custom CNN (87K images) predicts
from 38 disease classes.
Min confidence: 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4A261"/>
                </a:solidFill>
                <a:latin typeface="Calibri"/>
              </a:rPr>
              <a:t>⚡  Stage 0  OR  Stage 1 must pass — either one is enough to accept the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56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046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  <a:latin typeface="Calibri"/>
              </a:rPr>
              <a:t>MobileNetV2
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6A4F"/>
                </a:solidFill>
                <a:latin typeface="Calibri"/>
              </a:rPr>
              <a:t>MobileNetV2 Transfer Learning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41248"/>
            <a:ext cx="6309360" cy="3200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0" y="987552"/>
            <a:ext cx="9875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79776" y="1005840"/>
            <a:ext cx="914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Input
224×224×3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3716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22191" y="987552"/>
            <a:ext cx="9875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768" y="1005840"/>
            <a:ext cx="914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Backbone
MobileNetV2
154 layers frozen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13716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1183" y="987552"/>
            <a:ext cx="9875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59" y="1005840"/>
            <a:ext cx="914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Pooling
GlobalAverage
Pooling2D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3" y="13716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987552"/>
            <a:ext cx="9875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16752" y="1005840"/>
            <a:ext cx="914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Head
BatchNorm
Dense 256+128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13716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987552"/>
            <a:ext cx="9875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95744" y="1005840"/>
            <a:ext cx="914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Dropout
0.5 + 0.3
Regularization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137160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9" y="987552"/>
            <a:ext cx="987552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4735" y="1005840"/>
            <a:ext cx="914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Output
Softmax
38 classes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331720"/>
            <a:ext cx="30175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61488" y="2423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📦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2770632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PlantVillage
87,000+ images
38 disease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79" y="2331720"/>
            <a:ext cx="30175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07607" y="242316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⚙️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7" y="2770632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Phase 1: 5 epochs LR 0.001
Phase 2: 10 epochs LR 0.00001
EarlyStopping + ReduceLROnPlateau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657600"/>
            <a:ext cx="30175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61488" y="374903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📊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4096512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~94-97%
validation accuracy
Phase 1: 94.73% @ Epoch 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79" y="3657600"/>
            <a:ext cx="30175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07607" y="3749039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🔧 Callbacks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7" y="4096512"/>
            <a:ext cx="2834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ReduceLROnPlateau
ModelCheckpoint
Restores best weights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06  —  Weather &amp; Spray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Calibri"/>
              </a:rPr>
              <a:t>Powered by Open-Meteo API — no API key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011680" cy="324612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01168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A261"/>
                </a:solidFill>
                <a:latin typeface="Calibri"/>
              </a:rPr>
              <a:t>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42032"/>
            <a:ext cx="179222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E8D8"/>
                </a:solidFill>
                <a:latin typeface="Calibri"/>
              </a:rPr>
              <a:t>Ideal: 15–30°C
&lt; 5°C  →  Pesticide inactive
&gt; 35°C  →  Leaf burn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6312" y="1325880"/>
            <a:ext cx="2011680" cy="324612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96312" y="1325880"/>
            <a:ext cx="201168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6312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A261"/>
                </a:solidFill>
                <a:latin typeface="Calibri"/>
              </a:rPr>
              <a:t>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Humidity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542032"/>
            <a:ext cx="179222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E8D8"/>
                </a:solidFill>
                <a:latin typeface="Calibri"/>
              </a:rPr>
              <a:t>Ideal: 40–90%
&lt; 30%  →  Spray evaporates
&gt; 90%  →  May wash 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3" y="1325880"/>
            <a:ext cx="2011680" cy="324612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72583" y="1325880"/>
            <a:ext cx="201168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72583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A261"/>
                </a:solidFill>
                <a:latin typeface="Calibri"/>
              </a:rPr>
              <a:t>🌬️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3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Wind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2542032"/>
            <a:ext cx="179222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E8D8"/>
                </a:solidFill>
                <a:latin typeface="Calibri"/>
              </a:rPr>
              <a:t>Ideal: &lt; 15 km/h
&gt; 25 km/h  →  Do NOT spray
Drift hazard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8855" y="1325880"/>
            <a:ext cx="2011680" cy="324612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48855" y="1325880"/>
            <a:ext cx="201168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48855" y="14630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A261"/>
                </a:solidFill>
                <a:latin typeface="Calibri"/>
              </a:rPr>
              <a:t>🌧️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5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Rainfall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3" y="2542032"/>
            <a:ext cx="179222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E8D8"/>
                </a:solidFill>
                <a:latin typeface="Calibri"/>
              </a:rPr>
              <a:t>0 mm ideal
&gt; 5 mm  →  Do NOT spray
Product washes off leaves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63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Spray Score: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≥75: ✅ Excellent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≥50: 🟡 Acceptable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≥25: 🔴 Poor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6" y="46634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&lt;25: 🚫 Do NOT Spray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56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046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  <a:latin typeface="Calibri"/>
              </a:rPr>
              <a:t>Features
&amp;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6A4F"/>
                </a:solidFill>
                <a:latin typeface="Calibri"/>
              </a:rPr>
              <a:t>Platform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41248"/>
            <a:ext cx="6309360" cy="3200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960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👨‍🌾  Farmer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3898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Register &amp; Login (role-based tabs)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836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Disease Diagnosis — upload leaf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77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Weather &amp; Spray Advisory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7121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Scan History (last 50 scans +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3649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Farming Tips &amp; Expert Guides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587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Profile: edit name, phone,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35254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Change password securely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914400"/>
            <a:ext cx="36576" cy="40233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960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🛠️  Admin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3898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Admin Panel — stats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883664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User management (activate/deactivate)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3774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Promote farmers to admin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871216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Delete users &amp; all their scans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3649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View all scans by any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85876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Add &amp; delete farming tips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352544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1A"/>
                </a:solidFill>
                <a:latin typeface="Calibri"/>
              </a:rPr>
              <a:t>▸  Health check endpoint (/health)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08  —  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2B788"/>
                </a:solidFill>
                <a:latin typeface="Calibri"/>
              </a:rPr>
              <a:t>SQLite3 — 3 tables, auto-created on first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788920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 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2788920" cy="3063240"/>
          </a:xfrm>
          <a:prstGeom prst="rect">
            <a:avLst/>
          </a:prstGeom>
          <a:solidFill>
            <a:srgbClr val="23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id  INTEGER  PRIMARY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945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username  TEXT 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60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email  TEXT 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26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password  TEXT  (SHA-256)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2918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role  TEXT  (farmer/admin)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57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full_name,  phone,  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023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active  INTEGER  (1/0)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3891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created  TEXT  (datetime)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298448"/>
            <a:ext cx="2788920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1316736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  scans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737360"/>
            <a:ext cx="2788920" cy="3063240"/>
          </a:xfrm>
          <a:prstGeom prst="rect">
            <a:avLst/>
          </a:prstGeom>
          <a:solidFill>
            <a:srgbClr val="23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79" y="1828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id  INTEGER  PRIMARY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21945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user_id  FK → users.id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560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image_url 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2926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plant,  disease,  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32918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confidence 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3657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remedy 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4023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is_plant  INTEGER  (0/1)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43891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scanned_at 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298448"/>
            <a:ext cx="2788920" cy="43891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1316736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  tips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2788920" cy="3063240"/>
          </a:xfrm>
          <a:prstGeom prst="rect">
            <a:avLst/>
          </a:prstGeom>
          <a:solidFill>
            <a:srgbClr val="23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1828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id  INTEGER  PRIMARY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1945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title 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5603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content 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926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category 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2918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created_by  INTEGER  (FK)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657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D8"/>
                </a:solidFill>
                <a:latin typeface="Calibri"/>
              </a:rPr>
              <a:t>created  TEXT  (datetime)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2B788"/>
                </a:solidFill>
                <a:latin typeface="Calibri"/>
              </a:rPr>
              <a:t>FK relationships:  scans.user_id → users.id     tips.created_by → users.id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56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8046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2B788"/>
                </a:solidFill>
                <a:latin typeface="Calibri"/>
              </a:rPr>
              <a:t>Supported
Crops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6A4F"/>
                </a:solidFill>
                <a:latin typeface="Calibri"/>
              </a:rPr>
              <a:t>38 Disease Classes  ·  14 Crops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841248"/>
            <a:ext cx="6309360" cy="3200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51760" y="1005840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51760" y="100584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325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09728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Tomato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5087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10 classes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005840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00584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5968" y="1325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09728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Potato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15087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3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0176" y="1005840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0176" y="100584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0176" y="1325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09728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Corn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5087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4 classes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44383" y="1005840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44383" y="1005840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4383" y="1325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APL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109728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Apple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15087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4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029968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51760" y="2029968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2350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2" y="212140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Grape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2112" y="25328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4 classes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2029968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15968" y="2029968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15968" y="2350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212140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Peach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25328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2 classes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0176" y="2029968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80176" y="2029968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0176" y="2350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PPR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212140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Bell Pepper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25328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2 classes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44383" y="2029968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644383" y="2029968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44383" y="2350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2121408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Strawberry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4736" y="253288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2 classes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3054096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651760" y="3054096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51760" y="33741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ORG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82112" y="314553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Orange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2112" y="35570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1 class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15968" y="3054096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15968" y="3054096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15968" y="33741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CHR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14553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Cherry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35570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2 classes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0176" y="3054096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980176" y="3054096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80176" y="33741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BLU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0528" y="314553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Blueberry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35570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1 class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44383" y="3054096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644383" y="3054096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644383" y="33741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RSP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4736" y="3145536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Raspberry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74736" y="35570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1 class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51760" y="4078224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651760" y="4078224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51760" y="43982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82112" y="416966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Soybean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82112" y="458114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1 class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15968" y="4078224"/>
            <a:ext cx="15361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315968" y="4078224"/>
            <a:ext cx="457200" cy="868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315968" y="43982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SQH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6320" y="4169664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Squash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46320" y="4581144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C72"/>
                </a:solidFill>
                <a:latin typeface="Calibri"/>
              </a:rPr>
              <a:t>2 classes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51760" y="4736592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C72"/>
                </a:solidFill>
                <a:latin typeface="Calibri"/>
              </a:rPr>
              <a:t>Dataset: PlantVillage  ·  87,000+ augmented training images  ·  Kaggle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0" y="47960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72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11  — 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04672"/>
            <a:ext cx="8321040" cy="3200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2788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9784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Instant disease detection
for any farmer with a phone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50008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3-stage pipeline eliminates
non-plant false positives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91256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2644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Live spray advisory saves
cost and prevents crop damage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32504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10565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Full admin control panel
for platform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960120"/>
            <a:ext cx="2788920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9784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3552" y="1508760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10712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Model trained only on
PlantVillage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2350008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0712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Requires clear, close-up
leaf photos for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3552" y="3191256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10712" y="32644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Python 3.9-3.11 required
(TF not on 3.12+)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4032504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10712" y="410565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No mobile app yet —
browser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7064" y="960120"/>
            <a:ext cx="2788920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3" y="9784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7064" y="1508760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4224" y="15819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Transfer learning with
EfficientNet / ResNet50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7064" y="2350008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64224" y="2423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Mobile app (React Native)
for offline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3191256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64224" y="326440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Multilingual support
(Urdu, Punjabi)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4032504"/>
            <a:ext cx="2788920" cy="749808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4224" y="410565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8D8"/>
                </a:solidFill>
                <a:latin typeface="Calibri"/>
              </a:rPr>
              <a:t>IoT sensor integration
for soil &amp; moisture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4663440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Thank You  ·  Muhammad Ahmed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1199</Words>
  <Application>Microsoft Office PowerPoint</Application>
  <PresentationFormat>On-screen Show (16:9)</PresentationFormat>
  <Paragraphs>266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Muhammad Ahmed</cp:lastModifiedBy>
  <cp:revision>2</cp:revision>
  <dcterms:created xsi:type="dcterms:W3CDTF">2013-01-27T09:14:16Z</dcterms:created>
  <dcterms:modified xsi:type="dcterms:W3CDTF">2026-06-18T19:25:41Z</dcterms:modified>
  <cp:category/>
</cp:coreProperties>
</file>